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7772400" cy="10058400"/>
  <p:notesSz cx="6858000" cy="9144000"/>
  <p:embeddedFontLst>
    <p:embeddedFont>
      <p:font typeface="Anton" panose="020F0502020204030204" pitchFamily="2" charset="0"/>
      <p:regular r:id="rId3"/>
    </p:embeddedFont>
    <p:embeddedFont>
      <p:font typeface="Garet" panose="020B0604020202020204" charset="0"/>
      <p:regular r:id="rId4"/>
    </p:embeddedFont>
    <p:embeddedFont>
      <p:font typeface="Garet Bold" panose="020B0604020202020204" charset="0"/>
      <p:regular r:id="rId5"/>
    </p:embeddedFont>
    <p:embeddedFont>
      <p:font typeface="Garet Italics" panose="020B0604020202020204" charset="0"/>
      <p:regular r:id="rId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125" d="100"/>
          <a:sy n="125" d="100"/>
        </p:scale>
        <p:origin x="8074" y="2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font" Target="fonts/font1.fntdata"/><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4.fntdata"/><Relationship Id="rId5" Type="http://schemas.openxmlformats.org/officeDocument/2006/relationships/font" Target="fonts/font3.fntdata"/><Relationship Id="rId10" Type="http://schemas.openxmlformats.org/officeDocument/2006/relationships/tableStyles" Target="tableStyles.xml"/><Relationship Id="rId4" Type="http://schemas.openxmlformats.org/officeDocument/2006/relationships/font" Target="fonts/font2.fntdata"/><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E4E2"/>
        </a:solidFill>
        <a:effectLst/>
      </p:bgPr>
    </p:bg>
    <p:spTree>
      <p:nvGrpSpPr>
        <p:cNvPr id="1" name=""/>
        <p:cNvGrpSpPr/>
        <p:nvPr/>
      </p:nvGrpSpPr>
      <p:grpSpPr>
        <a:xfrm>
          <a:off x="0" y="0"/>
          <a:ext cx="0" cy="0"/>
          <a:chOff x="0" y="0"/>
          <a:chExt cx="0" cy="0"/>
        </a:xfrm>
      </p:grpSpPr>
      <p:grpSp>
        <p:nvGrpSpPr>
          <p:cNvPr id="2" name="Group 2"/>
          <p:cNvGrpSpPr/>
          <p:nvPr/>
        </p:nvGrpSpPr>
        <p:grpSpPr>
          <a:xfrm>
            <a:off x="0" y="-20775"/>
            <a:ext cx="3567420" cy="4365227"/>
            <a:chOff x="0" y="0"/>
            <a:chExt cx="773755" cy="946296"/>
          </a:xfrm>
        </p:grpSpPr>
        <p:sp>
          <p:nvSpPr>
            <p:cNvPr id="3" name="Freeform 3"/>
            <p:cNvSpPr/>
            <p:nvPr/>
          </p:nvSpPr>
          <p:spPr>
            <a:xfrm flipH="1">
              <a:off x="0" y="0"/>
              <a:ext cx="773755" cy="946296"/>
            </a:xfrm>
            <a:custGeom>
              <a:avLst/>
              <a:gdLst/>
              <a:ahLst/>
              <a:cxnLst/>
              <a:rect l="l" t="t" r="r" b="b"/>
              <a:pathLst>
                <a:path w="773755" h="1013685">
                  <a:moveTo>
                    <a:pt x="773755" y="0"/>
                  </a:moveTo>
                  <a:lnTo>
                    <a:pt x="0" y="0"/>
                  </a:lnTo>
                  <a:lnTo>
                    <a:pt x="0" y="1013685"/>
                  </a:lnTo>
                  <a:lnTo>
                    <a:pt x="773755" y="1013685"/>
                  </a:lnTo>
                  <a:close/>
                </a:path>
              </a:pathLst>
            </a:custGeom>
            <a:blipFill>
              <a:blip r:embed="rId2"/>
              <a:stretch>
                <a:fillRect l="-14752" t="-884" b="-24070"/>
              </a:stretch>
            </a:blipFill>
          </p:spPr>
          <p:txBody>
            <a:bodyPr/>
            <a:lstStyle/>
            <a:p>
              <a:endParaRPr lang="en-US"/>
            </a:p>
          </p:txBody>
        </p:sp>
      </p:grpSp>
      <p:grpSp>
        <p:nvGrpSpPr>
          <p:cNvPr id="4" name="Group 4"/>
          <p:cNvGrpSpPr/>
          <p:nvPr/>
        </p:nvGrpSpPr>
        <p:grpSpPr>
          <a:xfrm>
            <a:off x="0" y="2720118"/>
            <a:ext cx="3567420" cy="1733201"/>
            <a:chOff x="0" y="0"/>
            <a:chExt cx="638021" cy="304712"/>
          </a:xfrm>
        </p:grpSpPr>
        <p:sp>
          <p:nvSpPr>
            <p:cNvPr id="5" name="Freeform 5"/>
            <p:cNvSpPr/>
            <p:nvPr/>
          </p:nvSpPr>
          <p:spPr>
            <a:xfrm>
              <a:off x="0" y="0"/>
              <a:ext cx="638021" cy="304712"/>
            </a:xfrm>
            <a:custGeom>
              <a:avLst/>
              <a:gdLst/>
              <a:ahLst/>
              <a:cxnLst/>
              <a:rect l="l" t="t" r="r" b="b"/>
              <a:pathLst>
                <a:path w="638021" h="304712">
                  <a:moveTo>
                    <a:pt x="0" y="0"/>
                  </a:moveTo>
                  <a:lnTo>
                    <a:pt x="638021" y="0"/>
                  </a:lnTo>
                  <a:lnTo>
                    <a:pt x="638021" y="304712"/>
                  </a:lnTo>
                  <a:lnTo>
                    <a:pt x="0" y="304712"/>
                  </a:lnTo>
                  <a:close/>
                </a:path>
              </a:pathLst>
            </a:custGeom>
            <a:gradFill rotWithShape="1">
              <a:gsLst>
                <a:gs pos="0">
                  <a:srgbClr val="202020">
                    <a:alpha val="0"/>
                  </a:srgbClr>
                </a:gs>
                <a:gs pos="100000">
                  <a:srgbClr val="202020">
                    <a:alpha val="100000"/>
                  </a:srgbClr>
                </a:gs>
              </a:gsLst>
              <a:lin ang="5400000"/>
            </a:gradFill>
          </p:spPr>
          <p:txBody>
            <a:bodyPr/>
            <a:lstStyle/>
            <a:p>
              <a:endParaRPr lang="en-US"/>
            </a:p>
          </p:txBody>
        </p:sp>
        <p:sp>
          <p:nvSpPr>
            <p:cNvPr id="6" name="TextBox 6"/>
            <p:cNvSpPr txBox="1"/>
            <p:nvPr/>
          </p:nvSpPr>
          <p:spPr>
            <a:xfrm>
              <a:off x="0" y="9525"/>
              <a:ext cx="638021" cy="295187"/>
            </a:xfrm>
            <a:prstGeom prst="rect">
              <a:avLst/>
            </a:prstGeom>
          </p:spPr>
          <p:txBody>
            <a:bodyPr lIns="47790" tIns="47790" rIns="47790" bIns="47790" rtlCol="0" anchor="ctr"/>
            <a:lstStyle/>
            <a:p>
              <a:pPr algn="ctr">
                <a:lnSpc>
                  <a:spcPts val="1354"/>
                </a:lnSpc>
              </a:pPr>
              <a:endParaRPr/>
            </a:p>
          </p:txBody>
        </p:sp>
      </p:grpSp>
      <p:grpSp>
        <p:nvGrpSpPr>
          <p:cNvPr id="7" name="Group 7"/>
          <p:cNvGrpSpPr/>
          <p:nvPr/>
        </p:nvGrpSpPr>
        <p:grpSpPr>
          <a:xfrm>
            <a:off x="0" y="4346559"/>
            <a:ext cx="3567420" cy="5711841"/>
            <a:chOff x="0" y="0"/>
            <a:chExt cx="627183" cy="1004191"/>
          </a:xfrm>
        </p:grpSpPr>
        <p:sp>
          <p:nvSpPr>
            <p:cNvPr id="8" name="Freeform 8"/>
            <p:cNvSpPr/>
            <p:nvPr/>
          </p:nvSpPr>
          <p:spPr>
            <a:xfrm>
              <a:off x="0" y="0"/>
              <a:ext cx="627183" cy="1004191"/>
            </a:xfrm>
            <a:custGeom>
              <a:avLst/>
              <a:gdLst/>
              <a:ahLst/>
              <a:cxnLst/>
              <a:rect l="l" t="t" r="r" b="b"/>
              <a:pathLst>
                <a:path w="627183" h="1004191">
                  <a:moveTo>
                    <a:pt x="0" y="0"/>
                  </a:moveTo>
                  <a:lnTo>
                    <a:pt x="627183" y="0"/>
                  </a:lnTo>
                  <a:lnTo>
                    <a:pt x="627183" y="1004191"/>
                  </a:lnTo>
                  <a:lnTo>
                    <a:pt x="0" y="1004191"/>
                  </a:lnTo>
                  <a:close/>
                </a:path>
              </a:pathLst>
            </a:custGeom>
            <a:solidFill>
              <a:srgbClr val="202020"/>
            </a:solidFill>
          </p:spPr>
          <p:txBody>
            <a:bodyPr/>
            <a:lstStyle/>
            <a:p>
              <a:endParaRPr lang="en-US"/>
            </a:p>
          </p:txBody>
        </p:sp>
        <p:sp>
          <p:nvSpPr>
            <p:cNvPr id="9" name="TextBox 9"/>
            <p:cNvSpPr txBox="1"/>
            <p:nvPr/>
          </p:nvSpPr>
          <p:spPr>
            <a:xfrm>
              <a:off x="0" y="9525"/>
              <a:ext cx="627183" cy="994666"/>
            </a:xfrm>
            <a:prstGeom prst="rect">
              <a:avLst/>
            </a:prstGeom>
          </p:spPr>
          <p:txBody>
            <a:bodyPr lIns="47790" tIns="47790" rIns="47790" bIns="47790" rtlCol="0" anchor="ctr"/>
            <a:lstStyle/>
            <a:p>
              <a:pPr algn="ctr">
                <a:lnSpc>
                  <a:spcPts val="1354"/>
                </a:lnSpc>
              </a:pPr>
              <a:endParaRPr/>
            </a:p>
          </p:txBody>
        </p:sp>
      </p:grpSp>
      <p:sp>
        <p:nvSpPr>
          <p:cNvPr id="10" name="TextBox 10"/>
          <p:cNvSpPr txBox="1"/>
          <p:nvPr/>
        </p:nvSpPr>
        <p:spPr>
          <a:xfrm>
            <a:off x="4110426" y="3694395"/>
            <a:ext cx="2970055" cy="2203732"/>
          </a:xfrm>
          <a:prstGeom prst="rect">
            <a:avLst/>
          </a:prstGeom>
        </p:spPr>
        <p:txBody>
          <a:bodyPr lIns="0" tIns="0" rIns="0" bIns="0" rtlCol="0" anchor="t">
            <a:spAutoFit/>
          </a:bodyPr>
          <a:lstStyle/>
          <a:p>
            <a:pPr algn="just">
              <a:lnSpc>
                <a:spcPts val="1354"/>
              </a:lnSpc>
            </a:pPr>
            <a:r>
              <a:rPr lang="en-US" sz="1128" spc="-45">
                <a:solidFill>
                  <a:srgbClr val="202020"/>
                </a:solidFill>
                <a:latin typeface="Garet"/>
                <a:ea typeface="Garet"/>
                <a:cs typeface="Garet"/>
                <a:sym typeface="Garet"/>
              </a:rPr>
              <a:t>Creative and results-oriented Social Media Manager with experience in developing and executing effective social media strategies across multiple platforms. Skilled in content creation, campaign planning, and audience engagement to strengthen brand identity and increase online visibility. Experienced in analyzing social media metrics to optimize performance and improve engagement rates. Passionate about digital trends, storytelling, and creating meaningful connections between brands and their audiences.</a:t>
            </a:r>
          </a:p>
        </p:txBody>
      </p:sp>
      <p:sp>
        <p:nvSpPr>
          <p:cNvPr id="11" name="TextBox 11"/>
          <p:cNvSpPr txBox="1"/>
          <p:nvPr/>
        </p:nvSpPr>
        <p:spPr>
          <a:xfrm>
            <a:off x="4110426" y="674954"/>
            <a:ext cx="2970055" cy="2106880"/>
          </a:xfrm>
          <a:prstGeom prst="rect">
            <a:avLst/>
          </a:prstGeom>
        </p:spPr>
        <p:txBody>
          <a:bodyPr lIns="0" tIns="0" rIns="0" bIns="0" rtlCol="0" anchor="t">
            <a:spAutoFit/>
          </a:bodyPr>
          <a:lstStyle/>
          <a:p>
            <a:pPr algn="l">
              <a:lnSpc>
                <a:spcPts val="8184"/>
              </a:lnSpc>
            </a:pPr>
            <a:r>
              <a:rPr lang="en-US" sz="8184" spc="-163">
                <a:solidFill>
                  <a:srgbClr val="202020"/>
                </a:solidFill>
                <a:latin typeface="Anton"/>
                <a:ea typeface="Anton"/>
                <a:cs typeface="Anton"/>
                <a:sym typeface="Anton"/>
              </a:rPr>
              <a:t>REESE MILLER</a:t>
            </a:r>
          </a:p>
        </p:txBody>
      </p:sp>
      <p:sp>
        <p:nvSpPr>
          <p:cNvPr id="12" name="TextBox 12"/>
          <p:cNvSpPr txBox="1"/>
          <p:nvPr/>
        </p:nvSpPr>
        <p:spPr>
          <a:xfrm>
            <a:off x="210920" y="7638100"/>
            <a:ext cx="3294280" cy="718145"/>
          </a:xfrm>
          <a:prstGeom prst="rect">
            <a:avLst/>
          </a:prstGeom>
        </p:spPr>
        <p:txBody>
          <a:bodyPr wrap="square" lIns="0" tIns="0" rIns="0" bIns="0" rtlCol="0" anchor="t">
            <a:spAutoFit/>
          </a:bodyPr>
          <a:lstStyle/>
          <a:p>
            <a:pPr marL="243726" lvl="1" indent="-121863" algn="l">
              <a:lnSpc>
                <a:spcPts val="1354"/>
              </a:lnSpc>
              <a:buFont typeface="Arial"/>
              <a:buChar char="•"/>
            </a:pPr>
            <a:r>
              <a:rPr lang="en-US" sz="1128" spc="-45">
                <a:solidFill>
                  <a:srgbClr val="FAFAFA"/>
                </a:solidFill>
                <a:latin typeface="Garet"/>
                <a:ea typeface="Garet"/>
                <a:cs typeface="Garet"/>
                <a:sym typeface="Garet"/>
              </a:rPr>
              <a:t>Increased average engagement rate by 35% through creative content strategies.</a:t>
            </a:r>
          </a:p>
          <a:p>
            <a:pPr marL="243726" lvl="1" indent="-121863" algn="l">
              <a:lnSpc>
                <a:spcPts val="1354"/>
              </a:lnSpc>
              <a:buFont typeface="Arial"/>
              <a:buChar char="•"/>
            </a:pPr>
            <a:r>
              <a:rPr lang="en-US" sz="1128" spc="-45">
                <a:solidFill>
                  <a:srgbClr val="FAFAFA"/>
                </a:solidFill>
                <a:latin typeface="Garet"/>
                <a:ea typeface="Garet"/>
                <a:cs typeface="Garet"/>
                <a:sym typeface="Garet"/>
              </a:rPr>
              <a:t>Managed social media accounts for 8+ clients across any platforms.</a:t>
            </a:r>
          </a:p>
        </p:txBody>
      </p:sp>
      <p:sp>
        <p:nvSpPr>
          <p:cNvPr id="13" name="TextBox 13"/>
          <p:cNvSpPr txBox="1"/>
          <p:nvPr/>
        </p:nvSpPr>
        <p:spPr>
          <a:xfrm>
            <a:off x="210919" y="9152608"/>
            <a:ext cx="3298377" cy="359073"/>
          </a:xfrm>
          <a:prstGeom prst="rect">
            <a:avLst/>
          </a:prstGeom>
        </p:spPr>
        <p:txBody>
          <a:bodyPr wrap="square" lIns="0" tIns="0" rIns="0" bIns="0" rtlCol="0" anchor="t">
            <a:spAutoFit/>
          </a:bodyPr>
          <a:lstStyle/>
          <a:p>
            <a:pPr marL="243726" lvl="1" indent="-121863" algn="l">
              <a:lnSpc>
                <a:spcPts val="1354"/>
              </a:lnSpc>
              <a:buFont typeface="Arial"/>
              <a:buChar char="•"/>
            </a:pPr>
            <a:r>
              <a:rPr lang="en-US" sz="1128" spc="-45" dirty="0">
                <a:solidFill>
                  <a:srgbClr val="FAFAFA"/>
                </a:solidFill>
                <a:latin typeface="Garet"/>
                <a:ea typeface="Garet"/>
                <a:cs typeface="Garet"/>
                <a:sym typeface="Garet"/>
              </a:rPr>
              <a:t>Planned monthly content calendars and coordinated with design teams.</a:t>
            </a:r>
          </a:p>
        </p:txBody>
      </p:sp>
      <p:sp>
        <p:nvSpPr>
          <p:cNvPr id="14" name="TextBox 14"/>
          <p:cNvSpPr txBox="1"/>
          <p:nvPr/>
        </p:nvSpPr>
        <p:spPr>
          <a:xfrm>
            <a:off x="207105" y="7132777"/>
            <a:ext cx="1972526" cy="205184"/>
          </a:xfrm>
          <a:prstGeom prst="rect">
            <a:avLst/>
          </a:prstGeom>
        </p:spPr>
        <p:txBody>
          <a:bodyPr wrap="square" lIns="0" tIns="0" rIns="0" bIns="0" rtlCol="0" anchor="t">
            <a:spAutoFit/>
          </a:bodyPr>
          <a:lstStyle/>
          <a:p>
            <a:pPr algn="l">
              <a:lnSpc>
                <a:spcPts val="1580"/>
              </a:lnSpc>
            </a:pPr>
            <a:r>
              <a:rPr lang="en-US" sz="1317" b="1" spc="-52">
                <a:solidFill>
                  <a:srgbClr val="FAFAFA"/>
                </a:solidFill>
                <a:latin typeface="Garet Bold"/>
                <a:ea typeface="Garet Bold"/>
                <a:cs typeface="Garet Bold"/>
                <a:sym typeface="Garet Bold"/>
              </a:rPr>
              <a:t>Arowwai Industries</a:t>
            </a:r>
          </a:p>
        </p:txBody>
      </p:sp>
      <p:sp>
        <p:nvSpPr>
          <p:cNvPr id="15" name="TextBox 15"/>
          <p:cNvSpPr txBox="1"/>
          <p:nvPr/>
        </p:nvSpPr>
        <p:spPr>
          <a:xfrm>
            <a:off x="207105" y="8647284"/>
            <a:ext cx="1972526" cy="205184"/>
          </a:xfrm>
          <a:prstGeom prst="rect">
            <a:avLst/>
          </a:prstGeom>
        </p:spPr>
        <p:txBody>
          <a:bodyPr wrap="square" lIns="0" tIns="0" rIns="0" bIns="0" rtlCol="0" anchor="t">
            <a:spAutoFit/>
          </a:bodyPr>
          <a:lstStyle/>
          <a:p>
            <a:pPr algn="l">
              <a:lnSpc>
                <a:spcPts val="1580"/>
              </a:lnSpc>
            </a:pPr>
            <a:r>
              <a:rPr lang="en-US" sz="1317" b="1" spc="-52">
                <a:solidFill>
                  <a:srgbClr val="FAFAFA"/>
                </a:solidFill>
                <a:latin typeface="Garet Bold"/>
                <a:ea typeface="Garet Bold"/>
                <a:cs typeface="Garet Bold"/>
                <a:sym typeface="Garet Bold"/>
              </a:rPr>
              <a:t>Fradel and Spies Co</a:t>
            </a:r>
          </a:p>
        </p:txBody>
      </p:sp>
      <p:sp>
        <p:nvSpPr>
          <p:cNvPr id="16" name="TextBox 16"/>
          <p:cNvSpPr txBox="1"/>
          <p:nvPr/>
        </p:nvSpPr>
        <p:spPr>
          <a:xfrm>
            <a:off x="207105" y="7360323"/>
            <a:ext cx="2099499" cy="179536"/>
          </a:xfrm>
          <a:prstGeom prst="rect">
            <a:avLst/>
          </a:prstGeom>
        </p:spPr>
        <p:txBody>
          <a:bodyPr wrap="square" lIns="0" tIns="0" rIns="0" bIns="0" rtlCol="0" anchor="t">
            <a:spAutoFit/>
          </a:bodyPr>
          <a:lstStyle/>
          <a:p>
            <a:pPr algn="l">
              <a:lnSpc>
                <a:spcPts val="1354"/>
              </a:lnSpc>
            </a:pPr>
            <a:r>
              <a:rPr lang="en-US" sz="1128" i="1" spc="-45">
                <a:solidFill>
                  <a:srgbClr val="FAFAFA"/>
                </a:solidFill>
                <a:latin typeface="Garet Italics"/>
                <a:ea typeface="Garet Italics"/>
                <a:cs typeface="Garet Italics"/>
                <a:sym typeface="Garet Italics"/>
              </a:rPr>
              <a:t>Social Media Manager</a:t>
            </a:r>
          </a:p>
        </p:txBody>
      </p:sp>
      <p:sp>
        <p:nvSpPr>
          <p:cNvPr id="17" name="TextBox 17"/>
          <p:cNvSpPr txBox="1"/>
          <p:nvPr/>
        </p:nvSpPr>
        <p:spPr>
          <a:xfrm>
            <a:off x="207105" y="8874831"/>
            <a:ext cx="2099499" cy="179536"/>
          </a:xfrm>
          <a:prstGeom prst="rect">
            <a:avLst/>
          </a:prstGeom>
        </p:spPr>
        <p:txBody>
          <a:bodyPr wrap="square" lIns="0" tIns="0" rIns="0" bIns="0" rtlCol="0" anchor="t">
            <a:spAutoFit/>
          </a:bodyPr>
          <a:lstStyle/>
          <a:p>
            <a:pPr algn="l">
              <a:lnSpc>
                <a:spcPts val="1354"/>
              </a:lnSpc>
            </a:pPr>
            <a:r>
              <a:rPr lang="en-US" sz="1128" i="1" spc="-45">
                <a:solidFill>
                  <a:srgbClr val="FAFAFA"/>
                </a:solidFill>
                <a:latin typeface="Garet Italics"/>
                <a:ea typeface="Garet Italics"/>
                <a:cs typeface="Garet Italics"/>
                <a:sym typeface="Garet Italics"/>
              </a:rPr>
              <a:t>Social Media Manager</a:t>
            </a:r>
          </a:p>
        </p:txBody>
      </p:sp>
      <p:sp>
        <p:nvSpPr>
          <p:cNvPr id="18" name="TextBox 18"/>
          <p:cNvSpPr txBox="1"/>
          <p:nvPr/>
        </p:nvSpPr>
        <p:spPr>
          <a:xfrm>
            <a:off x="2014039" y="7169183"/>
            <a:ext cx="1144220" cy="179536"/>
          </a:xfrm>
          <a:prstGeom prst="rect">
            <a:avLst/>
          </a:prstGeom>
        </p:spPr>
        <p:txBody>
          <a:bodyPr wrap="square" lIns="0" tIns="0" rIns="0" bIns="0" rtlCol="0" anchor="t">
            <a:spAutoFit/>
          </a:bodyPr>
          <a:lstStyle/>
          <a:p>
            <a:pPr algn="r">
              <a:lnSpc>
                <a:spcPts val="1354"/>
              </a:lnSpc>
            </a:pPr>
            <a:r>
              <a:rPr lang="en-US" sz="1128" i="1" spc="-45">
                <a:solidFill>
                  <a:srgbClr val="FAFAFA"/>
                </a:solidFill>
                <a:latin typeface="Garet Italics"/>
                <a:ea typeface="Garet Italics"/>
                <a:cs typeface="Garet Italics"/>
                <a:sym typeface="Garet Italics"/>
              </a:rPr>
              <a:t>2024-2026</a:t>
            </a:r>
          </a:p>
        </p:txBody>
      </p:sp>
      <p:sp>
        <p:nvSpPr>
          <p:cNvPr id="19" name="TextBox 19"/>
          <p:cNvSpPr txBox="1"/>
          <p:nvPr/>
        </p:nvSpPr>
        <p:spPr>
          <a:xfrm>
            <a:off x="2014039" y="8683691"/>
            <a:ext cx="1144220" cy="179536"/>
          </a:xfrm>
          <a:prstGeom prst="rect">
            <a:avLst/>
          </a:prstGeom>
        </p:spPr>
        <p:txBody>
          <a:bodyPr wrap="square" lIns="0" tIns="0" rIns="0" bIns="0" rtlCol="0" anchor="t">
            <a:spAutoFit/>
          </a:bodyPr>
          <a:lstStyle/>
          <a:p>
            <a:pPr algn="r">
              <a:lnSpc>
                <a:spcPts val="1354"/>
              </a:lnSpc>
            </a:pPr>
            <a:r>
              <a:rPr lang="en-US" sz="1128" i="1" spc="-45">
                <a:solidFill>
                  <a:srgbClr val="FAFAFA"/>
                </a:solidFill>
                <a:latin typeface="Garet Italics"/>
                <a:ea typeface="Garet Italics"/>
                <a:cs typeface="Garet Italics"/>
                <a:sym typeface="Garet Italics"/>
              </a:rPr>
              <a:t>2022-2024</a:t>
            </a:r>
          </a:p>
        </p:txBody>
      </p:sp>
      <p:sp>
        <p:nvSpPr>
          <p:cNvPr id="20" name="TextBox 20"/>
          <p:cNvSpPr txBox="1"/>
          <p:nvPr/>
        </p:nvSpPr>
        <p:spPr>
          <a:xfrm>
            <a:off x="210919" y="6828118"/>
            <a:ext cx="3023461" cy="205184"/>
          </a:xfrm>
          <a:prstGeom prst="rect">
            <a:avLst/>
          </a:prstGeom>
        </p:spPr>
        <p:txBody>
          <a:bodyPr wrap="square" lIns="0" tIns="0" rIns="0" bIns="0" rtlCol="0" anchor="t">
            <a:spAutoFit/>
          </a:bodyPr>
          <a:lstStyle/>
          <a:p>
            <a:pPr algn="l">
              <a:lnSpc>
                <a:spcPts val="1580"/>
              </a:lnSpc>
            </a:pPr>
            <a:r>
              <a:rPr lang="en-US" sz="1317" b="1" spc="-26">
                <a:solidFill>
                  <a:srgbClr val="FAFAFA"/>
                </a:solidFill>
                <a:latin typeface="Garet Bold"/>
                <a:ea typeface="Garet Bold"/>
                <a:cs typeface="Garet Bold"/>
                <a:sym typeface="Garet Bold"/>
              </a:rPr>
              <a:t>WORK EXPERIENCE</a:t>
            </a:r>
          </a:p>
        </p:txBody>
      </p:sp>
      <p:sp>
        <p:nvSpPr>
          <p:cNvPr id="21" name="TextBox 21"/>
          <p:cNvSpPr txBox="1"/>
          <p:nvPr/>
        </p:nvSpPr>
        <p:spPr>
          <a:xfrm>
            <a:off x="210755" y="4855111"/>
            <a:ext cx="3298572" cy="205184"/>
          </a:xfrm>
          <a:prstGeom prst="rect">
            <a:avLst/>
          </a:prstGeom>
        </p:spPr>
        <p:txBody>
          <a:bodyPr wrap="square" lIns="0" tIns="0" rIns="0" bIns="0" rtlCol="0" anchor="t">
            <a:spAutoFit/>
          </a:bodyPr>
          <a:lstStyle/>
          <a:p>
            <a:pPr algn="l">
              <a:lnSpc>
                <a:spcPts val="1580"/>
              </a:lnSpc>
            </a:pPr>
            <a:r>
              <a:rPr lang="en-US" sz="1317" b="1" spc="-26">
                <a:solidFill>
                  <a:srgbClr val="FAFAFA"/>
                </a:solidFill>
                <a:latin typeface="Garet Bold"/>
                <a:ea typeface="Garet Bold"/>
                <a:cs typeface="Garet Bold"/>
                <a:sym typeface="Garet Bold"/>
              </a:rPr>
              <a:t>CONTACT</a:t>
            </a:r>
          </a:p>
        </p:txBody>
      </p:sp>
      <p:sp>
        <p:nvSpPr>
          <p:cNvPr id="22" name="TextBox 22"/>
          <p:cNvSpPr txBox="1"/>
          <p:nvPr/>
        </p:nvSpPr>
        <p:spPr>
          <a:xfrm>
            <a:off x="4110426" y="6525366"/>
            <a:ext cx="1543180" cy="197132"/>
          </a:xfrm>
          <a:prstGeom prst="rect">
            <a:avLst/>
          </a:prstGeom>
        </p:spPr>
        <p:txBody>
          <a:bodyPr lIns="0" tIns="0" rIns="0" bIns="0" rtlCol="0" anchor="t">
            <a:spAutoFit/>
          </a:bodyPr>
          <a:lstStyle/>
          <a:p>
            <a:pPr algn="l">
              <a:lnSpc>
                <a:spcPts val="1580"/>
              </a:lnSpc>
            </a:pPr>
            <a:r>
              <a:rPr lang="en-US" sz="1317" b="1" spc="-52">
                <a:solidFill>
                  <a:srgbClr val="202020"/>
                </a:solidFill>
                <a:latin typeface="Garet Bold"/>
                <a:ea typeface="Garet Bold"/>
                <a:cs typeface="Garet Bold"/>
                <a:sym typeface="Garet Bold"/>
              </a:rPr>
              <a:t>Borcelle University</a:t>
            </a:r>
          </a:p>
        </p:txBody>
      </p:sp>
      <p:sp>
        <p:nvSpPr>
          <p:cNvPr id="23" name="TextBox 23"/>
          <p:cNvSpPr txBox="1"/>
          <p:nvPr/>
        </p:nvSpPr>
        <p:spPr>
          <a:xfrm>
            <a:off x="4110426" y="6722498"/>
            <a:ext cx="1805660" cy="394264"/>
          </a:xfrm>
          <a:prstGeom prst="rect">
            <a:avLst/>
          </a:prstGeom>
        </p:spPr>
        <p:txBody>
          <a:bodyPr lIns="0" tIns="0" rIns="0" bIns="0" rtlCol="0" anchor="t">
            <a:spAutoFit/>
          </a:bodyPr>
          <a:lstStyle/>
          <a:p>
            <a:pPr algn="l">
              <a:lnSpc>
                <a:spcPts val="1580"/>
              </a:lnSpc>
            </a:pPr>
            <a:r>
              <a:rPr lang="en-US" sz="1317" i="1" spc="-52">
                <a:solidFill>
                  <a:srgbClr val="202020"/>
                </a:solidFill>
                <a:latin typeface="Garet Italics"/>
                <a:ea typeface="Garet Italics"/>
                <a:cs typeface="Garet Italics"/>
                <a:sym typeface="Garet Italics"/>
              </a:rPr>
              <a:t>Bachelor of Marketing Communications</a:t>
            </a:r>
          </a:p>
        </p:txBody>
      </p:sp>
      <p:sp>
        <p:nvSpPr>
          <p:cNvPr id="24" name="TextBox 24"/>
          <p:cNvSpPr txBox="1"/>
          <p:nvPr/>
        </p:nvSpPr>
        <p:spPr>
          <a:xfrm>
            <a:off x="4110426" y="7233814"/>
            <a:ext cx="2970055" cy="501227"/>
          </a:xfrm>
          <a:prstGeom prst="rect">
            <a:avLst/>
          </a:prstGeom>
        </p:spPr>
        <p:txBody>
          <a:bodyPr lIns="0" tIns="0" rIns="0" bIns="0" rtlCol="0" anchor="t">
            <a:spAutoFit/>
          </a:bodyPr>
          <a:lstStyle/>
          <a:p>
            <a:pPr algn="l">
              <a:lnSpc>
                <a:spcPts val="1354"/>
              </a:lnSpc>
            </a:pPr>
            <a:r>
              <a:rPr lang="en-US" sz="1128" i="1" spc="-45">
                <a:solidFill>
                  <a:srgbClr val="202020"/>
                </a:solidFill>
                <a:latin typeface="Garet Italics"/>
                <a:ea typeface="Garet Italics"/>
                <a:cs typeface="Garet Italics"/>
                <a:sym typeface="Garet Italics"/>
              </a:rPr>
              <a:t>Focused on digital communication strategies, social media marketing, and online content creation.</a:t>
            </a:r>
          </a:p>
        </p:txBody>
      </p:sp>
      <p:sp>
        <p:nvSpPr>
          <p:cNvPr id="25" name="TextBox 25"/>
          <p:cNvSpPr txBox="1"/>
          <p:nvPr/>
        </p:nvSpPr>
        <p:spPr>
          <a:xfrm>
            <a:off x="6169191" y="6534891"/>
            <a:ext cx="911289" cy="160726"/>
          </a:xfrm>
          <a:prstGeom prst="rect">
            <a:avLst/>
          </a:prstGeom>
        </p:spPr>
        <p:txBody>
          <a:bodyPr lIns="0" tIns="0" rIns="0" bIns="0" rtlCol="0" anchor="t">
            <a:spAutoFit/>
          </a:bodyPr>
          <a:lstStyle/>
          <a:p>
            <a:pPr algn="r">
              <a:lnSpc>
                <a:spcPts val="1354"/>
              </a:lnSpc>
            </a:pPr>
            <a:r>
              <a:rPr lang="en-US" sz="1128" i="1" spc="-45">
                <a:solidFill>
                  <a:srgbClr val="202020"/>
                </a:solidFill>
                <a:latin typeface="Garet Italics"/>
                <a:ea typeface="Garet Italics"/>
                <a:cs typeface="Garet Italics"/>
                <a:sym typeface="Garet Italics"/>
              </a:rPr>
              <a:t>2018-2022</a:t>
            </a:r>
          </a:p>
        </p:txBody>
      </p:sp>
      <p:sp>
        <p:nvSpPr>
          <p:cNvPr id="26" name="TextBox 26"/>
          <p:cNvSpPr txBox="1"/>
          <p:nvPr/>
        </p:nvSpPr>
        <p:spPr>
          <a:xfrm>
            <a:off x="4110426" y="6220707"/>
            <a:ext cx="2353865" cy="197132"/>
          </a:xfrm>
          <a:prstGeom prst="rect">
            <a:avLst/>
          </a:prstGeom>
        </p:spPr>
        <p:txBody>
          <a:bodyPr lIns="0" tIns="0" rIns="0" bIns="0" rtlCol="0" anchor="t">
            <a:spAutoFit/>
          </a:bodyPr>
          <a:lstStyle/>
          <a:p>
            <a:pPr algn="l">
              <a:lnSpc>
                <a:spcPts val="1580"/>
              </a:lnSpc>
            </a:pPr>
            <a:r>
              <a:rPr lang="en-US" sz="1317" b="1" spc="-26">
                <a:solidFill>
                  <a:srgbClr val="202020"/>
                </a:solidFill>
                <a:latin typeface="Garet Bold"/>
                <a:ea typeface="Garet Bold"/>
                <a:cs typeface="Garet Bold"/>
                <a:sym typeface="Garet Bold"/>
              </a:rPr>
              <a:t>EDUCATION</a:t>
            </a:r>
          </a:p>
        </p:txBody>
      </p:sp>
      <p:sp>
        <p:nvSpPr>
          <p:cNvPr id="27" name="TextBox 27"/>
          <p:cNvSpPr txBox="1"/>
          <p:nvPr/>
        </p:nvSpPr>
        <p:spPr>
          <a:xfrm>
            <a:off x="4110426" y="3380211"/>
            <a:ext cx="2353865" cy="197132"/>
          </a:xfrm>
          <a:prstGeom prst="rect">
            <a:avLst/>
          </a:prstGeom>
        </p:spPr>
        <p:txBody>
          <a:bodyPr lIns="0" tIns="0" rIns="0" bIns="0" rtlCol="0" anchor="t">
            <a:spAutoFit/>
          </a:bodyPr>
          <a:lstStyle/>
          <a:p>
            <a:pPr algn="l">
              <a:lnSpc>
                <a:spcPts val="1580"/>
              </a:lnSpc>
            </a:pPr>
            <a:r>
              <a:rPr lang="en-US" sz="1317" b="1" spc="-26">
                <a:solidFill>
                  <a:srgbClr val="202020"/>
                </a:solidFill>
                <a:latin typeface="Garet Bold"/>
                <a:ea typeface="Garet Bold"/>
                <a:cs typeface="Garet Bold"/>
                <a:sym typeface="Garet Bold"/>
              </a:rPr>
              <a:t>SUMMARY</a:t>
            </a:r>
          </a:p>
        </p:txBody>
      </p:sp>
      <p:sp>
        <p:nvSpPr>
          <p:cNvPr id="28" name="TextBox 28"/>
          <p:cNvSpPr txBox="1"/>
          <p:nvPr/>
        </p:nvSpPr>
        <p:spPr>
          <a:xfrm>
            <a:off x="4110426" y="2780418"/>
            <a:ext cx="2970055" cy="277213"/>
          </a:xfrm>
          <a:prstGeom prst="rect">
            <a:avLst/>
          </a:prstGeom>
        </p:spPr>
        <p:txBody>
          <a:bodyPr lIns="0" tIns="0" rIns="0" bIns="0" rtlCol="0" anchor="t">
            <a:spAutoFit/>
          </a:bodyPr>
          <a:lstStyle/>
          <a:p>
            <a:pPr algn="l">
              <a:lnSpc>
                <a:spcPts val="2257"/>
              </a:lnSpc>
            </a:pPr>
            <a:r>
              <a:rPr lang="en-US" sz="1881" i="1" spc="-37">
                <a:solidFill>
                  <a:srgbClr val="202020"/>
                </a:solidFill>
                <a:latin typeface="Garet Italics"/>
                <a:ea typeface="Garet Italics"/>
                <a:cs typeface="Garet Italics"/>
                <a:sym typeface="Garet Italics"/>
              </a:rPr>
              <a:t>Social Media Manager</a:t>
            </a:r>
          </a:p>
        </p:txBody>
      </p:sp>
      <p:sp>
        <p:nvSpPr>
          <p:cNvPr id="29" name="TextBox 29"/>
          <p:cNvSpPr txBox="1"/>
          <p:nvPr/>
        </p:nvSpPr>
        <p:spPr>
          <a:xfrm>
            <a:off x="4110426" y="8365119"/>
            <a:ext cx="2810692" cy="1182229"/>
          </a:xfrm>
          <a:prstGeom prst="rect">
            <a:avLst/>
          </a:prstGeom>
        </p:spPr>
        <p:txBody>
          <a:bodyPr lIns="0" tIns="0" rIns="0" bIns="0" rtlCol="0" anchor="t">
            <a:spAutoFit/>
          </a:bodyPr>
          <a:lstStyle/>
          <a:p>
            <a:pPr marL="243726" lvl="1" indent="-121863" algn="l">
              <a:lnSpc>
                <a:spcPts val="1354"/>
              </a:lnSpc>
              <a:buFont typeface="Arial"/>
              <a:buChar char="•"/>
            </a:pPr>
            <a:r>
              <a:rPr lang="en-US" sz="1128" spc="-45">
                <a:solidFill>
                  <a:srgbClr val="202020"/>
                </a:solidFill>
                <a:latin typeface="Garet"/>
                <a:ea typeface="Garet"/>
                <a:cs typeface="Garet"/>
                <a:sym typeface="Garet"/>
              </a:rPr>
              <a:t>Social Media Strategy</a:t>
            </a:r>
          </a:p>
          <a:p>
            <a:pPr marL="243726" lvl="1" indent="-121863" algn="l">
              <a:lnSpc>
                <a:spcPts val="1354"/>
              </a:lnSpc>
              <a:buFont typeface="Arial"/>
              <a:buChar char="•"/>
            </a:pPr>
            <a:r>
              <a:rPr lang="en-US" sz="1128" spc="-45">
                <a:solidFill>
                  <a:srgbClr val="202020"/>
                </a:solidFill>
                <a:latin typeface="Garet"/>
                <a:ea typeface="Garet"/>
                <a:cs typeface="Garet"/>
                <a:sym typeface="Garet"/>
              </a:rPr>
              <a:t>Content Planning</a:t>
            </a:r>
          </a:p>
          <a:p>
            <a:pPr marL="243726" lvl="1" indent="-121863" algn="l">
              <a:lnSpc>
                <a:spcPts val="1354"/>
              </a:lnSpc>
              <a:buFont typeface="Arial"/>
              <a:buChar char="•"/>
            </a:pPr>
            <a:r>
              <a:rPr lang="en-US" sz="1128" spc="-45">
                <a:solidFill>
                  <a:srgbClr val="202020"/>
                </a:solidFill>
                <a:latin typeface="Garet"/>
                <a:ea typeface="Garet"/>
                <a:cs typeface="Garet"/>
                <a:sym typeface="Garet"/>
              </a:rPr>
              <a:t>Copywriting</a:t>
            </a:r>
          </a:p>
          <a:p>
            <a:pPr marL="243726" lvl="1" indent="-121863" algn="l">
              <a:lnSpc>
                <a:spcPts val="1354"/>
              </a:lnSpc>
              <a:buFont typeface="Arial"/>
              <a:buChar char="•"/>
            </a:pPr>
            <a:r>
              <a:rPr lang="en-US" sz="1128" spc="-45">
                <a:solidFill>
                  <a:srgbClr val="202020"/>
                </a:solidFill>
                <a:latin typeface="Garet"/>
                <a:ea typeface="Garet"/>
                <a:cs typeface="Garet"/>
                <a:sym typeface="Garet"/>
              </a:rPr>
              <a:t>Social Media Analytics</a:t>
            </a:r>
          </a:p>
          <a:p>
            <a:pPr marL="243726" lvl="1" indent="-121863" algn="l">
              <a:lnSpc>
                <a:spcPts val="1354"/>
              </a:lnSpc>
              <a:buFont typeface="Arial"/>
              <a:buChar char="•"/>
            </a:pPr>
            <a:r>
              <a:rPr lang="en-US" sz="1128" spc="-45">
                <a:solidFill>
                  <a:srgbClr val="202020"/>
                </a:solidFill>
                <a:latin typeface="Garet"/>
                <a:ea typeface="Garet"/>
                <a:cs typeface="Garet"/>
                <a:sym typeface="Garet"/>
              </a:rPr>
              <a:t>Community Management</a:t>
            </a:r>
          </a:p>
          <a:p>
            <a:pPr marL="243726" lvl="1" indent="-121863" algn="l">
              <a:lnSpc>
                <a:spcPts val="1354"/>
              </a:lnSpc>
              <a:buFont typeface="Arial"/>
              <a:buChar char="•"/>
            </a:pPr>
            <a:r>
              <a:rPr lang="en-US" sz="1128" spc="-45">
                <a:solidFill>
                  <a:srgbClr val="202020"/>
                </a:solidFill>
                <a:latin typeface="Garet"/>
                <a:ea typeface="Garet"/>
                <a:cs typeface="Garet"/>
                <a:sym typeface="Garet"/>
              </a:rPr>
              <a:t>Trend Research</a:t>
            </a:r>
          </a:p>
          <a:p>
            <a:pPr marL="243726" lvl="1" indent="-121863" algn="l">
              <a:lnSpc>
                <a:spcPts val="1354"/>
              </a:lnSpc>
              <a:buFont typeface="Arial"/>
              <a:buChar char="•"/>
            </a:pPr>
            <a:r>
              <a:rPr lang="en-US" sz="1128" spc="-45">
                <a:solidFill>
                  <a:srgbClr val="202020"/>
                </a:solidFill>
                <a:latin typeface="Garet"/>
                <a:ea typeface="Garet"/>
                <a:cs typeface="Garet"/>
                <a:sym typeface="Garet"/>
              </a:rPr>
              <a:t>Hootsuite, Buffer</a:t>
            </a:r>
          </a:p>
        </p:txBody>
      </p:sp>
      <p:sp>
        <p:nvSpPr>
          <p:cNvPr id="30" name="TextBox 30"/>
          <p:cNvSpPr txBox="1"/>
          <p:nvPr/>
        </p:nvSpPr>
        <p:spPr>
          <a:xfrm>
            <a:off x="4110426" y="8059895"/>
            <a:ext cx="2327573" cy="197132"/>
          </a:xfrm>
          <a:prstGeom prst="rect">
            <a:avLst/>
          </a:prstGeom>
        </p:spPr>
        <p:txBody>
          <a:bodyPr lIns="0" tIns="0" rIns="0" bIns="0" rtlCol="0" anchor="t">
            <a:spAutoFit/>
          </a:bodyPr>
          <a:lstStyle/>
          <a:p>
            <a:pPr algn="l">
              <a:lnSpc>
                <a:spcPts val="1580"/>
              </a:lnSpc>
            </a:pPr>
            <a:r>
              <a:rPr lang="en-US" sz="1317" b="1" spc="-26">
                <a:solidFill>
                  <a:srgbClr val="202020"/>
                </a:solidFill>
                <a:latin typeface="Garet Bold"/>
                <a:ea typeface="Garet Bold"/>
                <a:cs typeface="Garet Bold"/>
                <a:sym typeface="Garet Bold"/>
              </a:rPr>
              <a:t>SKILLS</a:t>
            </a:r>
          </a:p>
        </p:txBody>
      </p:sp>
      <p:sp>
        <p:nvSpPr>
          <p:cNvPr id="31" name="TextBox 31"/>
          <p:cNvSpPr txBox="1"/>
          <p:nvPr/>
        </p:nvSpPr>
        <p:spPr>
          <a:xfrm>
            <a:off x="436504" y="5136299"/>
            <a:ext cx="809101" cy="172932"/>
          </a:xfrm>
          <a:prstGeom prst="rect">
            <a:avLst/>
          </a:prstGeom>
        </p:spPr>
        <p:txBody>
          <a:bodyPr wrap="square" lIns="0" tIns="0" rIns="0" bIns="0" rtlCol="0" anchor="t">
            <a:spAutoFit/>
          </a:bodyPr>
          <a:lstStyle/>
          <a:p>
            <a:pPr algn="l">
              <a:lnSpc>
                <a:spcPts val="1392"/>
              </a:lnSpc>
            </a:pPr>
            <a:r>
              <a:rPr lang="en-US" sz="994" b="1" spc="-19">
                <a:solidFill>
                  <a:srgbClr val="FAFAFA"/>
                </a:solidFill>
                <a:latin typeface="Garet Bold"/>
                <a:ea typeface="Garet Bold"/>
                <a:cs typeface="Garet Bold"/>
                <a:sym typeface="Garet Bold"/>
              </a:rPr>
              <a:t>PHONE</a:t>
            </a:r>
          </a:p>
        </p:txBody>
      </p:sp>
      <p:sp>
        <p:nvSpPr>
          <p:cNvPr id="32" name="Freeform 32"/>
          <p:cNvSpPr/>
          <p:nvPr/>
        </p:nvSpPr>
        <p:spPr>
          <a:xfrm>
            <a:off x="210755" y="5150810"/>
            <a:ext cx="184061" cy="154067"/>
          </a:xfrm>
          <a:custGeom>
            <a:avLst/>
            <a:gdLst/>
            <a:ahLst/>
            <a:cxnLst/>
            <a:rect l="l" t="t" r="r" b="b"/>
            <a:pathLst>
              <a:path w="154067" h="154067">
                <a:moveTo>
                  <a:pt x="0" y="0"/>
                </a:moveTo>
                <a:lnTo>
                  <a:pt x="154067" y="0"/>
                </a:lnTo>
                <a:lnTo>
                  <a:pt x="154067" y="154066"/>
                </a:lnTo>
                <a:lnTo>
                  <a:pt x="0" y="15406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3" name="TextBox 33"/>
          <p:cNvSpPr txBox="1"/>
          <p:nvPr/>
        </p:nvSpPr>
        <p:spPr>
          <a:xfrm>
            <a:off x="452854" y="6095297"/>
            <a:ext cx="1515390" cy="172932"/>
          </a:xfrm>
          <a:prstGeom prst="rect">
            <a:avLst/>
          </a:prstGeom>
        </p:spPr>
        <p:txBody>
          <a:bodyPr wrap="square" lIns="0" tIns="0" rIns="0" bIns="0" rtlCol="0" anchor="t">
            <a:spAutoFit/>
          </a:bodyPr>
          <a:lstStyle/>
          <a:p>
            <a:pPr algn="l">
              <a:lnSpc>
                <a:spcPts val="1392"/>
              </a:lnSpc>
            </a:pPr>
            <a:r>
              <a:rPr lang="en-US" sz="994" b="1" spc="-19">
                <a:solidFill>
                  <a:srgbClr val="FAFAFA"/>
                </a:solidFill>
                <a:latin typeface="Garet Bold"/>
                <a:ea typeface="Garet Bold"/>
                <a:cs typeface="Garet Bold"/>
                <a:sym typeface="Garet Bold"/>
              </a:rPr>
              <a:t>EMAIL</a:t>
            </a:r>
          </a:p>
        </p:txBody>
      </p:sp>
      <p:sp>
        <p:nvSpPr>
          <p:cNvPr id="34" name="Freeform 34"/>
          <p:cNvSpPr/>
          <p:nvPr/>
        </p:nvSpPr>
        <p:spPr>
          <a:xfrm>
            <a:off x="210920" y="6101715"/>
            <a:ext cx="203396" cy="170251"/>
          </a:xfrm>
          <a:custGeom>
            <a:avLst/>
            <a:gdLst/>
            <a:ahLst/>
            <a:cxnLst/>
            <a:rect l="l" t="t" r="r" b="b"/>
            <a:pathLst>
              <a:path w="170251" h="170251">
                <a:moveTo>
                  <a:pt x="0" y="0"/>
                </a:moveTo>
                <a:lnTo>
                  <a:pt x="170250" y="0"/>
                </a:lnTo>
                <a:lnTo>
                  <a:pt x="170250" y="170251"/>
                </a:lnTo>
                <a:lnTo>
                  <a:pt x="0" y="17025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5" name="TextBox 35"/>
          <p:cNvSpPr txBox="1"/>
          <p:nvPr/>
        </p:nvSpPr>
        <p:spPr>
          <a:xfrm>
            <a:off x="452688" y="5618148"/>
            <a:ext cx="809101" cy="172932"/>
          </a:xfrm>
          <a:prstGeom prst="rect">
            <a:avLst/>
          </a:prstGeom>
        </p:spPr>
        <p:txBody>
          <a:bodyPr wrap="square" lIns="0" tIns="0" rIns="0" bIns="0" rtlCol="0" anchor="t">
            <a:spAutoFit/>
          </a:bodyPr>
          <a:lstStyle/>
          <a:p>
            <a:pPr algn="l">
              <a:lnSpc>
                <a:spcPts val="1392"/>
              </a:lnSpc>
            </a:pPr>
            <a:r>
              <a:rPr lang="en-US" sz="994" b="1" spc="-19">
                <a:solidFill>
                  <a:srgbClr val="FAFAFA"/>
                </a:solidFill>
                <a:latin typeface="Garet Bold"/>
                <a:ea typeface="Garet Bold"/>
                <a:cs typeface="Garet Bold"/>
                <a:sym typeface="Garet Bold"/>
              </a:rPr>
              <a:t>ADDRESS</a:t>
            </a:r>
          </a:p>
        </p:txBody>
      </p:sp>
      <p:sp>
        <p:nvSpPr>
          <p:cNvPr id="36" name="Freeform 36"/>
          <p:cNvSpPr/>
          <p:nvPr/>
        </p:nvSpPr>
        <p:spPr>
          <a:xfrm>
            <a:off x="210755" y="5624566"/>
            <a:ext cx="203396" cy="170251"/>
          </a:xfrm>
          <a:custGeom>
            <a:avLst/>
            <a:gdLst/>
            <a:ahLst/>
            <a:cxnLst/>
            <a:rect l="l" t="t" r="r" b="b"/>
            <a:pathLst>
              <a:path w="170251" h="170251">
                <a:moveTo>
                  <a:pt x="0" y="0"/>
                </a:moveTo>
                <a:lnTo>
                  <a:pt x="170251" y="0"/>
                </a:lnTo>
                <a:lnTo>
                  <a:pt x="170251" y="170250"/>
                </a:lnTo>
                <a:lnTo>
                  <a:pt x="0" y="17025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37" name="TextBox 37"/>
          <p:cNvSpPr txBox="1"/>
          <p:nvPr/>
        </p:nvSpPr>
        <p:spPr>
          <a:xfrm>
            <a:off x="210755" y="5353002"/>
            <a:ext cx="1618202" cy="174471"/>
          </a:xfrm>
          <a:prstGeom prst="rect">
            <a:avLst/>
          </a:prstGeom>
        </p:spPr>
        <p:txBody>
          <a:bodyPr wrap="square" lIns="0" tIns="0" rIns="0" bIns="0" rtlCol="0" anchor="t">
            <a:spAutoFit/>
          </a:bodyPr>
          <a:lstStyle/>
          <a:p>
            <a:pPr algn="l">
              <a:lnSpc>
                <a:spcPts val="1448"/>
              </a:lnSpc>
            </a:pPr>
            <a:r>
              <a:rPr lang="en-US" sz="1034" i="1" spc="-20">
                <a:solidFill>
                  <a:srgbClr val="FAFAFA"/>
                </a:solidFill>
                <a:latin typeface="Garet Italics"/>
                <a:ea typeface="Garet Italics"/>
                <a:cs typeface="Garet Italics"/>
                <a:sym typeface="Garet Italics"/>
              </a:rPr>
              <a:t>+123-456-7890</a:t>
            </a:r>
          </a:p>
        </p:txBody>
      </p:sp>
      <p:sp>
        <p:nvSpPr>
          <p:cNvPr id="38" name="TextBox 38"/>
          <p:cNvSpPr txBox="1"/>
          <p:nvPr/>
        </p:nvSpPr>
        <p:spPr>
          <a:xfrm>
            <a:off x="210919" y="6315640"/>
            <a:ext cx="2037341" cy="174471"/>
          </a:xfrm>
          <a:prstGeom prst="rect">
            <a:avLst/>
          </a:prstGeom>
        </p:spPr>
        <p:txBody>
          <a:bodyPr wrap="square" lIns="0" tIns="0" rIns="0" bIns="0" rtlCol="0" anchor="t">
            <a:spAutoFit/>
          </a:bodyPr>
          <a:lstStyle/>
          <a:p>
            <a:pPr algn="l">
              <a:lnSpc>
                <a:spcPts val="1448"/>
              </a:lnSpc>
            </a:pPr>
            <a:r>
              <a:rPr lang="en-US" sz="1034" i="1" spc="-20">
                <a:solidFill>
                  <a:srgbClr val="FAFAFA"/>
                </a:solidFill>
                <a:latin typeface="Garet Italics"/>
                <a:ea typeface="Garet Italics"/>
                <a:cs typeface="Garet Italics"/>
                <a:sym typeface="Garet Italics"/>
              </a:rPr>
              <a:t>hello@reallygreatsite.com</a:t>
            </a:r>
          </a:p>
        </p:txBody>
      </p:sp>
      <p:sp>
        <p:nvSpPr>
          <p:cNvPr id="39" name="TextBox 39"/>
          <p:cNvSpPr txBox="1"/>
          <p:nvPr/>
        </p:nvSpPr>
        <p:spPr>
          <a:xfrm>
            <a:off x="210755" y="5831172"/>
            <a:ext cx="2023934" cy="174471"/>
          </a:xfrm>
          <a:prstGeom prst="rect">
            <a:avLst/>
          </a:prstGeom>
        </p:spPr>
        <p:txBody>
          <a:bodyPr wrap="square" lIns="0" tIns="0" rIns="0" bIns="0" rtlCol="0" anchor="t">
            <a:spAutoFit/>
          </a:bodyPr>
          <a:lstStyle/>
          <a:p>
            <a:pPr algn="l">
              <a:lnSpc>
                <a:spcPts val="1448"/>
              </a:lnSpc>
            </a:pPr>
            <a:r>
              <a:rPr lang="en-US" sz="1034" i="1" spc="-20">
                <a:solidFill>
                  <a:srgbClr val="FAFAFA"/>
                </a:solidFill>
                <a:latin typeface="Garet Italics"/>
                <a:ea typeface="Garet Italics"/>
                <a:cs typeface="Garet Italics"/>
                <a:sym typeface="Garet Italics"/>
              </a:rPr>
              <a:t>123 Anywhere St., Any City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184</Words>
  <Application>Microsoft Office PowerPoint</Application>
  <PresentationFormat>Custom</PresentationFormat>
  <Paragraphs>34</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Garet</vt:lpstr>
      <vt:lpstr>Garet Bold</vt:lpstr>
      <vt:lpstr>Arial</vt:lpstr>
      <vt:lpstr>Garet Italics</vt:lpstr>
      <vt:lpstr>Calibri</vt:lpstr>
      <vt:lpstr>Anton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Gray and Black Modern Social Media Manager Resume</dc:title>
  <dc:creator>Steven Kay</dc:creator>
  <cp:lastModifiedBy>Steven Kay</cp:lastModifiedBy>
  <cp:revision>2</cp:revision>
  <dcterms:created xsi:type="dcterms:W3CDTF">2006-08-16T00:00:00Z</dcterms:created>
  <dcterms:modified xsi:type="dcterms:W3CDTF">2026-04-20T14:55:57Z</dcterms:modified>
  <dc:identifier>DAHHZkWPeY0</dc:identifier>
</cp:coreProperties>
</file>