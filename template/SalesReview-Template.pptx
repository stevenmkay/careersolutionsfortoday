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96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 ($M)</c:v>
                </c:pt>
              </c:strCache>
            </c:strRef>
          </c:tx>
          <c:spPr>
            <a:solidFill>
              <a:srgbClr val="C8D3E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11.5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70-4327-B18C-DA9684028B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($M)</c:v>
                </c:pt>
              </c:strCache>
            </c:strRef>
          </c:tx>
          <c:spPr>
            <a:solidFill>
              <a:srgbClr val="005EB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Q3 '25</c:v>
                </c:pt>
                <c:pt idx="1">
                  <c:v>Q4 '25</c:v>
                </c:pt>
                <c:pt idx="2">
                  <c:v>Q1 '26</c:v>
                </c:pt>
                <c:pt idx="3">
                  <c:v>Q2 '26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9.6</c:v>
                </c:pt>
                <c:pt idx="1">
                  <c:v>11.4</c:v>
                </c:pt>
                <c:pt idx="2">
                  <c:v>11.9</c:v>
                </c:pt>
                <c:pt idx="3">
                  <c:v>12.4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70-4327-B18C-DA9684028B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348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E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{{KICKER}}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{{SUBTITLE}}</a:t>
            </a:r>
            <a:endParaRPr lang="en-US" sz="11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52A60C-856B-23A6-E9F8-D7507B000B3D}"/>
              </a:ext>
            </a:extLst>
          </p:cNvPr>
          <p:cNvGrpSpPr/>
          <p:nvPr/>
        </p:nvGrpSpPr>
        <p:grpSpPr>
          <a:xfrm>
            <a:off x="7824438" y="1874520"/>
            <a:ext cx="3657600" cy="2560320"/>
            <a:chOff x="457200" y="1554480"/>
            <a:chExt cx="3657600" cy="2560320"/>
          </a:xfrm>
        </p:grpSpPr>
        <p:sp>
          <p:nvSpPr>
            <p:cNvPr id="6" name="Text 4"/>
            <p:cNvSpPr/>
            <p:nvPr/>
          </p:nvSpPr>
          <p:spPr>
            <a:xfrm>
              <a:off x="457200" y="15544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1F24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Executive Snapshot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57200" y="1828800"/>
              <a:ext cx="36576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Move the tiles anywhere in PowerPoint — the fill demo finds {{TOKEN}} by name, not position.</a:t>
              </a:r>
              <a:endParaRPr lang="en-US" sz="9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57200" y="2148840"/>
              <a:ext cx="1600200" cy="914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D3E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REVENUE
</a:t>
              </a:r>
              <a:r>
                <a:rPr lang="en-US" sz="2200" b="1" dirty="0">
                  <a:solidFill>
                    <a:srgbClr val="1B1F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{{REVENUE}}
</a:t>
              </a:r>
              <a:r>
                <a:rPr lang="en-US" sz="1000" b="1" dirty="0">
                  <a:solidFill>
                    <a:srgbClr val="2E7D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{{REVENUE_DELTA}}</a:t>
              </a:r>
              <a:endParaRPr lang="en-US" sz="9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148840" y="2148840"/>
              <a:ext cx="1600200" cy="9144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C8D3E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PLAN ATTAINMENT
</a:t>
              </a:r>
              <a:r>
                <a:rPr lang="en-US" sz="2200" b="1" dirty="0">
                  <a:solidFill>
                    <a:srgbClr val="1B1F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{{PLAN_ATTAINMENT}}
</a:t>
              </a:r>
              <a:r>
                <a:rPr lang="en-US" sz="1000" b="1" dirty="0">
                  <a:solidFill>
                    <a:srgbClr val="2E7D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{{PLAN_ATTAINMENT_DELTA}}</a:t>
              </a:r>
              <a:endParaRPr lang="en-US" sz="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57200" y="3200400"/>
              <a:ext cx="1600200" cy="914400"/>
            </a:xfrm>
            <a:prstGeom prst="rect">
              <a:avLst/>
            </a:prstGeom>
            <a:solidFill>
              <a:srgbClr val="F5F8FC"/>
            </a:solidFill>
            <a:ln w="6350">
              <a:solidFill>
                <a:srgbClr val="C8D3E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PIPELINE
</a:t>
              </a:r>
              <a:r>
                <a:rPr lang="en-US" sz="2200" b="1" dirty="0">
                  <a:solidFill>
                    <a:srgbClr val="1B1F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{{PIPELINE}}
</a:t>
              </a:r>
              <a:r>
                <a:rPr lang="en-US" sz="1000" b="1" dirty="0">
                  <a:solidFill>
                    <a:srgbClr val="2E7D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{{PIPELINE_DELTA}}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148840" y="3200400"/>
              <a:ext cx="1600200" cy="914400"/>
            </a:xfrm>
            <a:prstGeom prst="rect">
              <a:avLst/>
            </a:prstGeom>
            <a:solidFill>
              <a:srgbClr val="F5F8FC"/>
            </a:solidFill>
            <a:ln w="6350">
              <a:solidFill>
                <a:srgbClr val="C8D3E0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WIN RATE
</a:t>
              </a:r>
              <a:r>
                <a:rPr lang="en-US" sz="2200" b="1" dirty="0">
                  <a:solidFill>
                    <a:srgbClr val="1B1F24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{{WIN_RATE}}
</a:t>
              </a:r>
              <a:r>
                <a:rPr lang="en-US" sz="1000" b="1" dirty="0">
                  <a:solidFill>
                    <a:srgbClr val="2E7D32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{{WIN_RATE_DELTA}}</a:t>
              </a:r>
              <a:endParaRPr lang="en-US" sz="9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95D60C-8E9C-A730-5535-C25F92A7BD2A}"/>
              </a:ext>
            </a:extLst>
          </p:cNvPr>
          <p:cNvGrpSpPr/>
          <p:nvPr/>
        </p:nvGrpSpPr>
        <p:grpSpPr>
          <a:xfrm>
            <a:off x="457200" y="1531434"/>
            <a:ext cx="6858000" cy="3429000"/>
            <a:chOff x="4572000" y="1417320"/>
            <a:chExt cx="6858000" cy="3429000"/>
          </a:xfrm>
        </p:grpSpPr>
        <p:sp>
          <p:nvSpPr>
            <p:cNvPr id="5" name="Text 3"/>
            <p:cNvSpPr/>
            <p:nvPr/>
          </p:nvSpPr>
          <p:spPr>
            <a:xfrm>
              <a:off x="9601200" y="1417320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05EB8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{{BADGE}}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572000" y="1554480"/>
              <a:ext cx="68580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1F24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Quarterly Sales vs. Plan</a:t>
              </a:r>
              <a:endParaRPr lang="en-US" sz="14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572000" y="1828800"/>
              <a:ext cx="68580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6670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Charts aren't tokenized — their data lives in an embedded spreadsheet (see method 3 notes).</a:t>
              </a:r>
              <a:endParaRPr lang="en-US" sz="900" dirty="0"/>
            </a:p>
          </p:txBody>
        </p:sp>
        <p:graphicFrame>
          <p:nvGraphicFramePr>
            <p:cNvPr id="14" name="Chart 0"/>
            <p:cNvGraphicFramePr/>
            <p:nvPr>
              <p:extLst>
                <p:ext uri="{D42A27DB-BD31-4B8C-83A1-F6EECF244321}">
                  <p14:modId xmlns:p14="http://schemas.microsoft.com/office/powerpoint/2010/main" val="3704631257"/>
                </p:ext>
              </p:extLst>
            </p:nvPr>
          </p:nvGraphicFramePr>
          <p:xfrm>
            <a:off x="4572000" y="2103120"/>
            <a:ext cx="6858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029200"/>
          <a:ext cx="11247120" cy="1280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Period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Period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B7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{{ROW1_NOTES}}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{{ROW2_NOTES}}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{{ROW3_NOTES}}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{{ROW4_METRIC}}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{{ROW4_CURRENT}}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{{ROW4_PRIOR}}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{{ROW4_VARIANCE}}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B1F2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{{ROW4_NOTES}}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10515600" y="6446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{{PAGE_LABEL}}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Widescreen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Steven Kay</cp:lastModifiedBy>
  <cp:revision>2</cp:revision>
  <dcterms:created xsi:type="dcterms:W3CDTF">2026-06-20T23:35:03Z</dcterms:created>
  <dcterms:modified xsi:type="dcterms:W3CDTF">2026-06-21T00:14:20Z</dcterms:modified>
</cp:coreProperties>
</file>